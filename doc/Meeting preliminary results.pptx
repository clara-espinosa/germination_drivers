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81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4" r:id="rId21"/>
    <p:sldId id="277" r:id="rId22"/>
    <p:sldId id="278" r:id="rId23"/>
    <p:sldId id="280" r:id="rId24"/>
    <p:sldId id="279" r:id="rId25"/>
  </p:sldIdLst>
  <p:sldSz cx="12192000" cy="6858000"/>
  <p:notesSz cx="6858000" cy="9144000"/>
  <p:defaultTextStyle>
    <a:defPPr>
      <a:defRPr lang="ca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72" y="16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858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1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44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63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38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78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060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771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62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319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380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E5DE09-DBE0-45AA-A589-DAAA9BBA7830}" type="datetimeFigureOut">
              <a:rPr lang="en-US" smtClean="0"/>
              <a:t>10/23/2024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A1DB01-F3AD-4DDF-BDB7-2625125107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562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600" dirty="0" smtClean="0"/>
              <a:t>Germination dissimilarity in alpine communities</a:t>
            </a:r>
            <a:br>
              <a:rPr lang="en-US" sz="3600" dirty="0" smtClean="0"/>
            </a:br>
            <a:r>
              <a:rPr lang="en-US" sz="3600" dirty="0" smtClean="0"/>
              <a:t>or</a:t>
            </a:r>
            <a:br>
              <a:rPr lang="en-US" sz="3600" dirty="0" smtClean="0"/>
            </a:br>
            <a:r>
              <a:rPr lang="en-US" sz="3600" dirty="0" smtClean="0"/>
              <a:t>Grubb’s theory to test: larger germination niche dissimilarity in alpine plant communities</a:t>
            </a:r>
            <a:endParaRPr lang="en-US" sz="36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06368" y="4649547"/>
            <a:ext cx="10727804" cy="1655762"/>
          </a:xfrm>
        </p:spPr>
        <p:txBody>
          <a:bodyPr/>
          <a:lstStyle/>
          <a:p>
            <a:pPr algn="l"/>
            <a:endParaRPr lang="en-US" dirty="0" smtClean="0"/>
          </a:p>
          <a:p>
            <a:pPr algn="l"/>
            <a:r>
              <a:rPr lang="es-ES" u="sng" dirty="0"/>
              <a:t>Espinosa del Alba, </a:t>
            </a:r>
            <a:r>
              <a:rPr lang="es-ES" u="sng" dirty="0" smtClean="0"/>
              <a:t>C.</a:t>
            </a:r>
            <a:r>
              <a:rPr lang="es-ES" u="sng" baseline="30000" dirty="0" smtClean="0"/>
              <a:t>1</a:t>
            </a:r>
            <a:r>
              <a:rPr lang="es-ES" dirty="0" smtClean="0"/>
              <a:t>, </a:t>
            </a:r>
            <a:r>
              <a:rPr lang="es-ES" dirty="0" err="1" smtClean="0"/>
              <a:t>Götzenberger</a:t>
            </a:r>
            <a:r>
              <a:rPr lang="es-ES" dirty="0" smtClean="0"/>
              <a:t>, L</a:t>
            </a:r>
            <a:r>
              <a:rPr lang="es-ES" baseline="30000" dirty="0" smtClean="0"/>
              <a:t>2</a:t>
            </a:r>
            <a:r>
              <a:rPr lang="es-ES" dirty="0" smtClean="0"/>
              <a:t>., </a:t>
            </a:r>
            <a:r>
              <a:rPr lang="es-ES" dirty="0"/>
              <a:t>Fernández-Pascual, </a:t>
            </a:r>
            <a:r>
              <a:rPr lang="es-ES" dirty="0" smtClean="0"/>
              <a:t>E.</a:t>
            </a:r>
            <a:r>
              <a:rPr lang="es-ES" baseline="30000" dirty="0" smtClean="0"/>
              <a:t>1</a:t>
            </a:r>
            <a:r>
              <a:rPr lang="en-GB" dirty="0" smtClean="0"/>
              <a:t>&amp; </a:t>
            </a:r>
            <a:r>
              <a:rPr lang="en-GB" dirty="0"/>
              <a:t>Jiménez-Alfaro, B</a:t>
            </a:r>
            <a:r>
              <a:rPr lang="en-GB" baseline="30000" dirty="0"/>
              <a:t>1</a:t>
            </a:r>
            <a:r>
              <a:rPr lang="en-GB" dirty="0"/>
              <a:t>.</a:t>
            </a:r>
            <a:endParaRPr lang="ca-E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935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introductory points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559408"/>
            <a:ext cx="10515600" cy="4351338"/>
          </a:xfrm>
        </p:spPr>
        <p:txBody>
          <a:bodyPr/>
          <a:lstStyle/>
          <a:p>
            <a:r>
              <a:rPr lang="en-US" dirty="0" smtClean="0"/>
              <a:t>High alpine diversity partly due to niche differentiation 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Niche differentiation expected mainly due to harsh environment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Other studies focused on niche-based processes using traits/phylogeny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Regeneration traits hardly considered, only seed mass, BUT….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949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introductory points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55940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Grubb’s theory says that:</a:t>
            </a:r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Regeneration niche differentiation </a:t>
            </a:r>
            <a:r>
              <a:rPr lang="en-US" dirty="0" smtClean="0">
                <a:solidFill>
                  <a:srgbClr val="FF0000"/>
                </a:solidFill>
              </a:rPr>
              <a:t>&gt;&gt;</a:t>
            </a:r>
            <a:r>
              <a:rPr lang="en-US" dirty="0" smtClean="0"/>
              <a:t> Adult plant niche differentiation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Plenty literature about diversity in regeneration trait but NO empirically based comparison between both sets of traits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Additionally, microclimatic conditions are known to be very important in alpine compositional and functional diversity of adult plants (existing literature) as well as for germination (almost no literature)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494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goal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1902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 smtClean="0"/>
              <a:t>Study germination niche dissimilarity pattern:</a:t>
            </a:r>
          </a:p>
          <a:p>
            <a:pPr lvl="1"/>
            <a:r>
              <a:rPr lang="en-US" dirty="0" smtClean="0"/>
              <a:t>With community level metrics (CM/CWM and Functional divergence indices).</a:t>
            </a:r>
          </a:p>
          <a:p>
            <a:pPr lvl="1"/>
            <a:r>
              <a:rPr lang="en-US" dirty="0" smtClean="0"/>
              <a:t>Empirical data for germination (3 traits) and adult plant traits (5 traits).</a:t>
            </a:r>
          </a:p>
          <a:p>
            <a:pPr lvl="1"/>
            <a:r>
              <a:rPr lang="en-US" dirty="0" smtClean="0"/>
              <a:t>Detailed field measured microclimatic gradients in two communities.</a:t>
            </a:r>
            <a:endParaRPr lang="en-US" dirty="0"/>
          </a:p>
          <a:p>
            <a:endParaRPr lang="en-US" dirty="0" smtClean="0"/>
          </a:p>
          <a:p>
            <a:r>
              <a:rPr lang="en-US" dirty="0" smtClean="0"/>
              <a:t>To our knowledge no one has tested it empirically</a:t>
            </a:r>
          </a:p>
        </p:txBody>
      </p:sp>
    </p:spTree>
    <p:extLst>
      <p:ext uri="{BB962C8B-B14F-4D97-AF65-F5344CB8AC3E}">
        <p14:creationId xmlns:p14="http://schemas.microsoft.com/office/powerpoint/2010/main" val="78482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smtClean="0"/>
              <a:t>Determine germination patterns to main drivers in alpine communities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Explore relationships between CM/CWM and microclimatic gradients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Explore functional divergence (FD) in alpine communities</a:t>
            </a:r>
          </a:p>
          <a:p>
            <a:pPr marL="457200" lvl="1" indent="0">
              <a:buNone/>
            </a:pPr>
            <a:r>
              <a:rPr lang="en-US" dirty="0" smtClean="0"/>
              <a:t>3.1. Compare germination and adult plant niche dissimilarities</a:t>
            </a:r>
          </a:p>
          <a:p>
            <a:pPr marL="457200" lvl="1" indent="0">
              <a:buNone/>
            </a:pPr>
            <a:r>
              <a:rPr lang="en-US" dirty="0" smtClean="0"/>
              <a:t>3.2. Relationships between FD and microclimatic gradients</a:t>
            </a:r>
            <a:endParaRPr lang="en-US" dirty="0"/>
          </a:p>
          <a:p>
            <a:pPr marL="457200" lvl="1" indent="0">
              <a:buNone/>
            </a:pPr>
            <a:endParaRPr lang="en-US" dirty="0" smtClean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smtClean="0">
                <a:solidFill>
                  <a:srgbClr val="FF0000"/>
                </a:solidFill>
              </a:rPr>
              <a:t>Need of clear hypothesis to understand results and be able to compare it with literature.</a:t>
            </a:r>
          </a:p>
        </p:txBody>
      </p:sp>
    </p:spTree>
    <p:extLst>
      <p:ext uri="{BB962C8B-B14F-4D97-AF65-F5344CB8AC3E}">
        <p14:creationId xmlns:p14="http://schemas.microsoft.com/office/powerpoint/2010/main" val="9757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availability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8 functional traits:</a:t>
            </a:r>
          </a:p>
          <a:p>
            <a:pPr lvl="1"/>
            <a:r>
              <a:rPr lang="en-US" dirty="0" smtClean="0"/>
              <a:t>3 germination responses to darkness, water stress and constant temperatures</a:t>
            </a:r>
          </a:p>
          <a:p>
            <a:pPr lvl="1"/>
            <a:r>
              <a:rPr lang="en-US" dirty="0" smtClean="0"/>
              <a:t>5 adult traits extensively used:</a:t>
            </a:r>
          </a:p>
          <a:p>
            <a:pPr lvl="2"/>
            <a:r>
              <a:rPr lang="en-US" dirty="0" smtClean="0"/>
              <a:t>Leaf area, plant height and seed mass (LHS scheme)</a:t>
            </a:r>
          </a:p>
          <a:p>
            <a:pPr lvl="2"/>
            <a:r>
              <a:rPr lang="en-US" dirty="0" smtClean="0"/>
              <a:t>SLA and LDMC</a:t>
            </a:r>
          </a:p>
          <a:p>
            <a:endParaRPr lang="en-US" dirty="0" smtClean="0"/>
          </a:p>
          <a:p>
            <a:r>
              <a:rPr lang="en-US" dirty="0" smtClean="0"/>
              <a:t>Species with full set of traits:</a:t>
            </a:r>
          </a:p>
          <a:p>
            <a:pPr lvl="1"/>
            <a:r>
              <a:rPr lang="en-US" dirty="0" smtClean="0"/>
              <a:t>18 </a:t>
            </a:r>
            <a:r>
              <a:rPr lang="en-US" dirty="0" smtClean="0"/>
              <a:t>species in Mediterranean </a:t>
            </a:r>
            <a:r>
              <a:rPr lang="en-US" dirty="0" smtClean="0"/>
              <a:t>community (5 </a:t>
            </a:r>
            <a:r>
              <a:rPr lang="en-US" dirty="0" err="1" smtClean="0"/>
              <a:t>sp</a:t>
            </a:r>
            <a:r>
              <a:rPr lang="en-US" dirty="0" smtClean="0"/>
              <a:t> with no germination, 1 with no leaves traits)</a:t>
            </a:r>
            <a:endParaRPr lang="en-US" dirty="0" smtClean="0"/>
          </a:p>
          <a:p>
            <a:pPr lvl="1"/>
            <a:r>
              <a:rPr lang="en-US" dirty="0" smtClean="0"/>
              <a:t>25 </a:t>
            </a:r>
            <a:r>
              <a:rPr lang="en-US" dirty="0" smtClean="0"/>
              <a:t>species in Temperate </a:t>
            </a:r>
            <a:r>
              <a:rPr lang="en-US" dirty="0" smtClean="0"/>
              <a:t>community (7 </a:t>
            </a:r>
            <a:r>
              <a:rPr lang="en-US" dirty="0" err="1" smtClean="0"/>
              <a:t>sp</a:t>
            </a:r>
            <a:r>
              <a:rPr lang="en-US" dirty="0" smtClean="0"/>
              <a:t> with no germination, 2 with no leaves traits)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492372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4 sites per community, 20 plots per site (N real= 75 and 78 )</a:t>
            </a:r>
          </a:p>
          <a:p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I will present preliminary results based on the most restrictive set of data.</a:t>
            </a:r>
          </a:p>
          <a:p>
            <a:r>
              <a:rPr lang="en-US" dirty="0" smtClean="0"/>
              <a:t>CWM is most used in literature for FD and community metrics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Environmental data availability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0031171"/>
              </p:ext>
            </p:extLst>
          </p:nvPr>
        </p:nvGraphicFramePr>
        <p:xfrm>
          <a:off x="1133356" y="2462234"/>
          <a:ext cx="890189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8954"/>
                <a:gridCol w="2476982"/>
                <a:gridCol w="2395959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MEDITERRANEAN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TEMPERATE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Abundance data (&gt;80% cover of the plot with species </a:t>
                      </a:r>
                      <a:r>
                        <a:rPr lang="en-US" dirty="0" smtClean="0"/>
                        <a:t>traits and at least 2 species)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47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Presence/absence</a:t>
                      </a:r>
                      <a:r>
                        <a:rPr lang="en-US" baseline="0" dirty="0" smtClean="0"/>
                        <a:t> data (&gt;50% of species with traits and at least 2 species)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70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68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0060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59" y="1399215"/>
            <a:ext cx="8843750" cy="3906226"/>
          </a:xfr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exploration: </a:t>
            </a:r>
            <a:br>
              <a:rPr lang="en-US" dirty="0" smtClean="0"/>
            </a:br>
            <a:r>
              <a:rPr lang="en-US" dirty="0" smtClean="0"/>
              <a:t>Environmental gradients</a:t>
            </a:r>
            <a:r>
              <a:rPr lang="en-US" sz="1600" dirty="0"/>
              <a:t> </a:t>
            </a:r>
            <a:r>
              <a:rPr lang="en-US" sz="1600" dirty="0" smtClean="0"/>
              <a:t>(Calculated from different years)</a:t>
            </a:r>
            <a:endParaRPr lang="en-US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222270"/>
              </p:ext>
            </p:extLst>
          </p:nvPr>
        </p:nvGraphicFramePr>
        <p:xfrm>
          <a:off x="1383040" y="5394774"/>
          <a:ext cx="8127999" cy="146322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38522"/>
                <a:gridCol w="3599727"/>
                <a:gridCol w="3689750"/>
              </a:tblGrid>
              <a:tr h="319461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Mediterranean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smtClean="0"/>
                        <a:t>Temperate</a:t>
                      </a:r>
                      <a:endParaRPr lang="en-US" sz="1800" dirty="0"/>
                    </a:p>
                  </a:txBody>
                  <a:tcPr/>
                </a:tc>
              </a:tr>
              <a:tr h="253486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Elevation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/>
                        <a:t>2091 </a:t>
                      </a:r>
                      <a:r>
                        <a:rPr lang="en-US" sz="1200" dirty="0" smtClean="0"/>
                        <a:t>- 2157;      </a:t>
                      </a:r>
                      <a:r>
                        <a:rPr lang="ca-ES" sz="1200" kern="1200" dirty="0" smtClean="0">
                          <a:effectLst/>
                        </a:rPr>
                        <a:t>x̄: 2120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1928 - 2138;      </a:t>
                      </a:r>
                      <a:r>
                        <a:rPr lang="ca-ES" sz="1200" kern="1200" dirty="0" smtClean="0">
                          <a:effectLst/>
                        </a:rPr>
                        <a:t>x̄: 2020</a:t>
                      </a:r>
                      <a:endParaRPr lang="en-US" sz="1200" dirty="0" smtClean="0"/>
                    </a:p>
                  </a:txBody>
                  <a:tcPr/>
                </a:tc>
              </a:tr>
              <a:tr h="239596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FDD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a-ES" sz="1200" kern="1200" dirty="0" smtClean="0">
                          <a:effectLst/>
                        </a:rPr>
                        <a:t>0 – 108;</a:t>
                      </a:r>
                      <a:r>
                        <a:rPr lang="ca-ES" sz="1200" kern="1200" baseline="0" dirty="0" smtClean="0">
                          <a:effectLst/>
                        </a:rPr>
                        <a:t>              </a:t>
                      </a:r>
                      <a:r>
                        <a:rPr lang="ca-ES" sz="1200" kern="1200" dirty="0" smtClean="0">
                          <a:effectLst/>
                        </a:rPr>
                        <a:t>x̄: </a:t>
                      </a:r>
                      <a:r>
                        <a:rPr lang="ca-ES" sz="1200" kern="1200" dirty="0" smtClean="0">
                          <a:effectLst/>
                        </a:rPr>
                        <a:t>23.2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a-ES" sz="1200" kern="1200" dirty="0" smtClean="0">
                          <a:effectLst/>
                        </a:rPr>
                        <a:t>0 – 194;</a:t>
                      </a:r>
                      <a:r>
                        <a:rPr lang="ca-ES" sz="1200" kern="1200" baseline="0" dirty="0" smtClean="0">
                          <a:effectLst/>
                        </a:rPr>
                        <a:t>              </a:t>
                      </a:r>
                      <a:r>
                        <a:rPr lang="ca-ES" sz="1200" kern="1200" dirty="0" smtClean="0">
                          <a:effectLst/>
                        </a:rPr>
                        <a:t>x̄: 31.1</a:t>
                      </a:r>
                      <a:endParaRPr lang="en-US" sz="1200" dirty="0"/>
                    </a:p>
                  </a:txBody>
                  <a:tcPr/>
                </a:tc>
              </a:tr>
              <a:tr h="254643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GDD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a-ES" sz="1200" kern="1200" dirty="0" smtClean="0">
                          <a:effectLst/>
                        </a:rPr>
                        <a:t>959 –</a:t>
                      </a:r>
                      <a:r>
                        <a:rPr lang="ca-ES" sz="1200" kern="1200" baseline="0" dirty="0" smtClean="0">
                          <a:effectLst/>
                        </a:rPr>
                        <a:t> 2480;       </a:t>
                      </a:r>
                      <a:r>
                        <a:rPr lang="ca-ES" sz="1200" kern="1200" dirty="0" smtClean="0">
                          <a:effectLst/>
                        </a:rPr>
                        <a:t>x̄: </a:t>
                      </a:r>
                      <a:r>
                        <a:rPr lang="ca-ES" sz="1200" kern="1200" dirty="0" smtClean="0">
                          <a:effectLst/>
                        </a:rPr>
                        <a:t>1800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/>
                        <a:t>463</a:t>
                      </a:r>
                      <a:r>
                        <a:rPr lang="en-US" sz="1200" baseline="0" dirty="0" smtClean="0"/>
                        <a:t> – 1382;      </a:t>
                      </a:r>
                      <a:r>
                        <a:rPr lang="ca-ES" sz="1200" kern="1200" dirty="0" smtClean="0">
                          <a:effectLst/>
                        </a:rPr>
                        <a:t>x̄: 955</a:t>
                      </a:r>
                      <a:endParaRPr lang="en-US" sz="1200" dirty="0"/>
                    </a:p>
                  </a:txBody>
                  <a:tcPr/>
                </a:tc>
              </a:tr>
              <a:tr h="274506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Snow days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a-ES" sz="1200" kern="1200" dirty="0" smtClean="0">
                          <a:effectLst/>
                        </a:rPr>
                        <a:t>0 – 145;              x̄: </a:t>
                      </a:r>
                      <a:r>
                        <a:rPr lang="ca-ES" sz="1200" kern="1200" dirty="0" smtClean="0">
                          <a:effectLst/>
                        </a:rPr>
                        <a:t>32.5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a-ES" sz="1200" kern="1200" dirty="0" smtClean="0">
                          <a:effectLst/>
                        </a:rPr>
                        <a:t>0 – 234;              x̄: 94.9</a:t>
                      </a:r>
                      <a:endParaRPr lang="en-US" sz="12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066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exploration: </a:t>
            </a:r>
            <a:br>
              <a:rPr lang="en-US" dirty="0" smtClean="0"/>
            </a:br>
            <a:r>
              <a:rPr lang="en-US" dirty="0" smtClean="0"/>
              <a:t>Species PCA climatic preferences</a:t>
            </a:r>
            <a:endParaRPr lang="en-US" dirty="0"/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254" y="1825625"/>
            <a:ext cx="9851492" cy="4351338"/>
          </a:xfrm>
        </p:spPr>
      </p:pic>
    </p:spTree>
    <p:extLst>
      <p:ext uri="{BB962C8B-B14F-4D97-AF65-F5344CB8AC3E}">
        <p14:creationId xmlns:p14="http://schemas.microsoft.com/office/powerpoint/2010/main" val="4196923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exploration:</a:t>
            </a:r>
            <a:br>
              <a:rPr lang="en-US" dirty="0" smtClean="0"/>
            </a:br>
            <a:r>
              <a:rPr lang="en-US" dirty="0" smtClean="0"/>
              <a:t>Adult plant traits </a:t>
            </a:r>
            <a:r>
              <a:rPr lang="en-US" dirty="0" smtClean="0"/>
              <a:t>PCA</a:t>
            </a:r>
            <a:endParaRPr lang="en-US" dirty="0"/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91" y="955344"/>
            <a:ext cx="11718355" cy="5781180"/>
          </a:xfrm>
        </p:spPr>
      </p:pic>
    </p:spTree>
    <p:extLst>
      <p:ext uri="{BB962C8B-B14F-4D97-AF65-F5344CB8AC3E}">
        <p14:creationId xmlns:p14="http://schemas.microsoft.com/office/powerpoint/2010/main" val="547215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exploration:</a:t>
            </a:r>
            <a:br>
              <a:rPr lang="en-US" dirty="0" smtClean="0"/>
            </a:br>
            <a:r>
              <a:rPr lang="en-US" dirty="0" smtClean="0"/>
              <a:t>Traits PCA</a:t>
            </a:r>
            <a:endParaRPr lang="en-US" dirty="0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46" y="1392072"/>
            <a:ext cx="11256369" cy="5351823"/>
          </a:xfrm>
        </p:spPr>
      </p:pic>
    </p:spTree>
    <p:extLst>
      <p:ext uri="{BB962C8B-B14F-4D97-AF65-F5344CB8AC3E}">
        <p14:creationId xmlns:p14="http://schemas.microsoft.com/office/powerpoint/2010/main" val="1061250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Germination patterns </a:t>
            </a:r>
            <a:r>
              <a:rPr lang="en-US" sz="2400" dirty="0" smtClean="0"/>
              <a:t>(Remove or keep in supplementary?)</a:t>
            </a:r>
            <a:endParaRPr lang="en-US" dirty="0"/>
          </a:p>
        </p:txBody>
      </p:sp>
      <p:sp>
        <p:nvSpPr>
          <p:cNvPr id="5" name="CuadroTexto 4"/>
          <p:cNvSpPr txBox="1"/>
          <p:nvPr/>
        </p:nvSpPr>
        <p:spPr>
          <a:xfrm>
            <a:off x="8848846" y="3455042"/>
            <a:ext cx="3090441" cy="14773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MCMC-GLMMs</a:t>
            </a:r>
          </a:p>
          <a:p>
            <a:endParaRPr lang="en-US" dirty="0" smtClean="0"/>
          </a:p>
          <a:p>
            <a:r>
              <a:rPr lang="en-US" dirty="0" smtClean="0"/>
              <a:t>Consistent lower germination in darkness and water stress</a:t>
            </a:r>
          </a:p>
          <a:p>
            <a:endParaRPr lang="en-U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482" y="1446663"/>
            <a:ext cx="8358886" cy="500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894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/>
              <a:t>2. Community metrics along microclimatic gradients</a:t>
            </a:r>
            <a:endParaRPr lang="en-US" sz="3600" dirty="0"/>
          </a:p>
        </p:txBody>
      </p:sp>
      <p:sp>
        <p:nvSpPr>
          <p:cNvPr id="5" name="CuadroTexto 4"/>
          <p:cNvSpPr txBox="1"/>
          <p:nvPr/>
        </p:nvSpPr>
        <p:spPr>
          <a:xfrm>
            <a:off x="9377412" y="1970523"/>
            <a:ext cx="2551083" cy="36933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LM estimate + CI</a:t>
            </a:r>
          </a:p>
          <a:p>
            <a:endParaRPr lang="en-US" dirty="0" smtClean="0"/>
          </a:p>
          <a:p>
            <a:r>
              <a:rPr lang="en-US" dirty="0" smtClean="0"/>
              <a:t>CM mostly responds to elevation</a:t>
            </a:r>
          </a:p>
          <a:p>
            <a:endParaRPr lang="en-US" dirty="0"/>
          </a:p>
          <a:p>
            <a:r>
              <a:rPr lang="en-US" dirty="0" smtClean="0"/>
              <a:t>CWM mostly responds to snow, GDD and elevation</a:t>
            </a:r>
          </a:p>
          <a:p>
            <a:endParaRPr lang="en-US" dirty="0"/>
          </a:p>
          <a:p>
            <a:r>
              <a:rPr lang="en-US" dirty="0" smtClean="0"/>
              <a:t>Consistent  germination and plant traits responses </a:t>
            </a:r>
            <a:r>
              <a:rPr lang="en-US" dirty="0" smtClean="0"/>
              <a:t>mostly in </a:t>
            </a:r>
            <a:r>
              <a:rPr lang="en-US" dirty="0" smtClean="0"/>
              <a:t>opposite directions!!</a:t>
            </a:r>
          </a:p>
          <a:p>
            <a:endParaRPr lang="en-US" dirty="0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21" y="1498079"/>
            <a:ext cx="8999093" cy="4351338"/>
          </a:xfrm>
        </p:spPr>
      </p:pic>
    </p:spTree>
    <p:extLst>
      <p:ext uri="{BB962C8B-B14F-4D97-AF65-F5344CB8AC3E}">
        <p14:creationId xmlns:p14="http://schemas.microsoft.com/office/powerpoint/2010/main" val="3747278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/>
              <a:t>2. Community metrics along microclimatic gradients</a:t>
            </a:r>
            <a:endParaRPr lang="en-US" sz="3600" dirty="0"/>
          </a:p>
        </p:txBody>
      </p:sp>
      <p:sp>
        <p:nvSpPr>
          <p:cNvPr id="6" name="CuadroTexto 5"/>
          <p:cNvSpPr txBox="1"/>
          <p:nvPr/>
        </p:nvSpPr>
        <p:spPr>
          <a:xfrm>
            <a:off x="9209773" y="1929645"/>
            <a:ext cx="2836710" cy="34163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LM estimate + CI</a:t>
            </a:r>
          </a:p>
          <a:p>
            <a:endParaRPr lang="en-US" dirty="0" smtClean="0"/>
          </a:p>
          <a:p>
            <a:r>
              <a:rPr lang="en-US" dirty="0" smtClean="0"/>
              <a:t>CM mostly responds to elevation, GDD and FDD</a:t>
            </a:r>
          </a:p>
          <a:p>
            <a:endParaRPr lang="en-US" dirty="0"/>
          </a:p>
          <a:p>
            <a:r>
              <a:rPr lang="en-US" dirty="0" smtClean="0"/>
              <a:t>CWM mostly responds to </a:t>
            </a:r>
            <a:r>
              <a:rPr lang="en-US" dirty="0" smtClean="0"/>
              <a:t>GDD</a:t>
            </a:r>
          </a:p>
          <a:p>
            <a:endParaRPr lang="en-US" dirty="0"/>
          </a:p>
          <a:p>
            <a:r>
              <a:rPr lang="en-US" dirty="0" smtClean="0"/>
              <a:t>Germination and plant traits responses mostly in opposite directions!!</a:t>
            </a:r>
          </a:p>
          <a:p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80" y="1462136"/>
            <a:ext cx="8999093" cy="4351338"/>
          </a:xfrm>
        </p:spPr>
      </p:pic>
    </p:spTree>
    <p:extLst>
      <p:ext uri="{BB962C8B-B14F-4D97-AF65-F5344CB8AC3E}">
        <p14:creationId xmlns:p14="http://schemas.microsoft.com/office/powerpoint/2010/main" val="2609244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/>
              <a:t>3.1 Germination and adult plant niche differentiation </a:t>
            </a:r>
            <a:endParaRPr lang="en-US" sz="3600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70" y="1499518"/>
            <a:ext cx="4353326" cy="4649960"/>
          </a:xfr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4697" y="1499517"/>
            <a:ext cx="4349013" cy="464535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9209773" y="1929645"/>
            <a:ext cx="2836710" cy="28623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Mean + CI (t-test)</a:t>
            </a:r>
          </a:p>
          <a:p>
            <a:endParaRPr lang="en-US" dirty="0" smtClean="0"/>
          </a:p>
          <a:p>
            <a:r>
              <a:rPr lang="en-US" dirty="0" smtClean="0"/>
              <a:t>Germination niche dissimilarity bigger than adult plant niche.</a:t>
            </a:r>
          </a:p>
          <a:p>
            <a:endParaRPr lang="en-US" dirty="0"/>
          </a:p>
          <a:p>
            <a:r>
              <a:rPr lang="en-US" dirty="0" smtClean="0"/>
              <a:t>Both data types significant in mediterranean, only with presence/absence data in temperate.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303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3.2 FD along microclimatic gradients</a:t>
            </a:r>
            <a:endParaRPr lang="en-US" dirty="0"/>
          </a:p>
        </p:txBody>
      </p:sp>
      <p:sp>
        <p:nvSpPr>
          <p:cNvPr id="5" name="CuadroTexto 4"/>
          <p:cNvSpPr txBox="1"/>
          <p:nvPr/>
        </p:nvSpPr>
        <p:spPr>
          <a:xfrm>
            <a:off x="8364663" y="2132202"/>
            <a:ext cx="3036399" cy="31393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LM parameter + CI </a:t>
            </a:r>
          </a:p>
          <a:p>
            <a:endParaRPr lang="en-US" dirty="0" smtClean="0"/>
          </a:p>
          <a:p>
            <a:r>
              <a:rPr lang="en-US" dirty="0" smtClean="0"/>
              <a:t>Opposite trait differentiation trends between germination and adult plant niche. </a:t>
            </a:r>
          </a:p>
          <a:p>
            <a:endParaRPr lang="en-US" dirty="0"/>
          </a:p>
          <a:p>
            <a:r>
              <a:rPr lang="en-US" dirty="0" smtClean="0"/>
              <a:t>Snow = germination divergent, plant convergent</a:t>
            </a:r>
          </a:p>
          <a:p>
            <a:endParaRPr lang="en-US" dirty="0"/>
          </a:p>
          <a:p>
            <a:r>
              <a:rPr lang="en-US" dirty="0" smtClean="0"/>
              <a:t>Elevation = germination convergent, plant divergent</a:t>
            </a: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4" y="1526193"/>
            <a:ext cx="8217557" cy="4351338"/>
          </a:xfrm>
        </p:spPr>
      </p:pic>
    </p:spTree>
    <p:extLst>
      <p:ext uri="{BB962C8B-B14F-4D97-AF65-F5344CB8AC3E}">
        <p14:creationId xmlns:p14="http://schemas.microsoft.com/office/powerpoint/2010/main" val="570511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3.2 FD along microclimatic gradients</a:t>
            </a:r>
            <a:endParaRPr lang="en-US" dirty="0"/>
          </a:p>
        </p:txBody>
      </p:sp>
      <p:sp>
        <p:nvSpPr>
          <p:cNvPr id="8" name="CuadroTexto 7"/>
          <p:cNvSpPr txBox="1"/>
          <p:nvPr/>
        </p:nvSpPr>
        <p:spPr>
          <a:xfrm>
            <a:off x="7838015" y="2320128"/>
            <a:ext cx="3620921" cy="28623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LM parameter + CI </a:t>
            </a:r>
          </a:p>
          <a:p>
            <a:endParaRPr lang="en-US" dirty="0" smtClean="0"/>
          </a:p>
          <a:p>
            <a:r>
              <a:rPr lang="en-US" dirty="0" smtClean="0"/>
              <a:t>Opposite trait differentiation trends between germination and adult plant niche. </a:t>
            </a:r>
          </a:p>
          <a:p>
            <a:endParaRPr lang="en-US" dirty="0"/>
          </a:p>
          <a:p>
            <a:r>
              <a:rPr lang="en-US" dirty="0" smtClean="0"/>
              <a:t>GDD = germination convergent, plant divergent</a:t>
            </a:r>
          </a:p>
          <a:p>
            <a:endParaRPr lang="en-US" dirty="0"/>
          </a:p>
          <a:p>
            <a:r>
              <a:rPr lang="en-US" dirty="0" smtClean="0"/>
              <a:t>Elevation = germination divergent</a:t>
            </a: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3" y="1690688"/>
            <a:ext cx="7451859" cy="4710112"/>
          </a:xfrm>
        </p:spPr>
      </p:pic>
    </p:spTree>
    <p:extLst>
      <p:ext uri="{BB962C8B-B14F-4D97-AF65-F5344CB8AC3E}">
        <p14:creationId xmlns:p14="http://schemas.microsoft.com/office/powerpoint/2010/main" val="1103088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Answers to Objectives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Determine germination patterns to main drivers in alpine communities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Significantly worse germination in darkness and water stress</a:t>
            </a:r>
          </a:p>
          <a:p>
            <a:pPr marL="0" indent="0">
              <a:buNone/>
            </a:pPr>
            <a:r>
              <a:rPr lang="en-US" dirty="0" smtClean="0"/>
              <a:t>Trend of higher germination in constant temperatures (probably because lower limit of alternating temperatures slowed germination speed or is below germination threshold).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017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Answers to Objectives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2. Explore relationships between CM/CWM and microclimatic gradients</a:t>
            </a:r>
          </a:p>
          <a:p>
            <a:pPr marL="0" indent="0">
              <a:buNone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 smtClean="0"/>
              <a:t>Different responses in each community probably due to distinct environmental limitations (some even opposite).</a:t>
            </a:r>
          </a:p>
          <a:p>
            <a:pPr marL="0" indent="0">
              <a:buNone/>
            </a:pPr>
            <a:r>
              <a:rPr lang="en-US" dirty="0" smtClean="0"/>
              <a:t>Different responses depending on CM or CWM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CM mostly respond to elevation (with only 100-200 m range)</a:t>
            </a:r>
          </a:p>
          <a:p>
            <a:pPr marL="0" indent="0">
              <a:buNone/>
            </a:pPr>
            <a:r>
              <a:rPr lang="en-US" dirty="0" smtClean="0"/>
              <a:t>CWM to snow and GDD in mediterranean, only GDD in temperate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Opposite germination and adult plant relationships with environment (always in mediterranean, mostly in temperate)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497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Answers to Objectives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3.1. Compare germination and adult plant niche dissimilarities</a:t>
            </a:r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Germination niche dissimilarity bigger than adult plant niche (corroborating Grubb’s hypothesis)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Both data types significant in mediterranean, only with presence/absence data in temperate. </a:t>
            </a:r>
          </a:p>
          <a:p>
            <a:pPr marL="0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65753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Answers to Objectives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3.2. Relationships between FD and microclimatic gradients</a:t>
            </a:r>
          </a:p>
          <a:p>
            <a:pPr marL="0" indent="0">
              <a:buNone/>
            </a:pPr>
            <a:r>
              <a:rPr lang="en-US" dirty="0" smtClean="0"/>
              <a:t>Opposite trait differentiation trends between germination and adult plant niche. 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Snow = germination divergent, plant convergent (Mediterranean)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Elevation = germination convergent, plant divergent (Mediterranean)</a:t>
            </a:r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GDD = germination convergent, plant divergent (Temperate)</a:t>
            </a:r>
          </a:p>
          <a:p>
            <a:pPr marL="0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1350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5307" y="0"/>
            <a:ext cx="4803820" cy="664451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826" y="1558344"/>
            <a:ext cx="6448022" cy="344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523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8603" y="578186"/>
            <a:ext cx="10472833" cy="559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931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7282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890</Words>
  <Application>Microsoft Office PowerPoint</Application>
  <PresentationFormat>Panorámica</PresentationFormat>
  <Paragraphs>151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Tema de Office</vt:lpstr>
      <vt:lpstr>Germination dissimilarity in alpine communities or Grubb’s theory to test: larger germination niche dissimilarity in alpine plant communities</vt:lpstr>
      <vt:lpstr>Main introductory points</vt:lpstr>
      <vt:lpstr>Main introductory points</vt:lpstr>
      <vt:lpstr>Main goal</vt:lpstr>
      <vt:lpstr>Objectives</vt:lpstr>
      <vt:lpstr>Data availability</vt:lpstr>
      <vt:lpstr>Environmental data availability</vt:lpstr>
      <vt:lpstr>Data exploration:  Environmental gradients (Calculated from different years)</vt:lpstr>
      <vt:lpstr>Data exploration:  Species PCA climatic preferences</vt:lpstr>
      <vt:lpstr>Data exploration: Adult plant traits PCA</vt:lpstr>
      <vt:lpstr>Data exploration: Traits PCA</vt:lpstr>
      <vt:lpstr>1. Germination patterns (Remove or keep in supplementary?)</vt:lpstr>
      <vt:lpstr>2. Community metrics along microclimatic gradients</vt:lpstr>
      <vt:lpstr>2. Community metrics along microclimatic gradients</vt:lpstr>
      <vt:lpstr>3.1 Germination and adult plant niche differentiation </vt:lpstr>
      <vt:lpstr>3.2 FD along microclimatic gradients</vt:lpstr>
      <vt:lpstr>3.2 FD along microclimatic gradients</vt:lpstr>
      <vt:lpstr>Answers to Objectives</vt:lpstr>
      <vt:lpstr>Answers to Objectives</vt:lpstr>
      <vt:lpstr>Answers to Objectives</vt:lpstr>
      <vt:lpstr>Answers to Objectives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Germination dissimilarity in alpine communities or Grubb’s theory to test: larger germination niche dissimilarity in alpine plant communities</dc:title>
  <dc:creator>Cuenta Microsoft</dc:creator>
  <cp:lastModifiedBy>Cuenta Microsoft</cp:lastModifiedBy>
  <cp:revision>28</cp:revision>
  <dcterms:created xsi:type="dcterms:W3CDTF">2024-10-17T09:58:18Z</dcterms:created>
  <dcterms:modified xsi:type="dcterms:W3CDTF">2024-10-23T13:25:07Z</dcterms:modified>
</cp:coreProperties>
</file>